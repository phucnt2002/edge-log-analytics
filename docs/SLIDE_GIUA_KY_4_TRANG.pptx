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464"/>
                </a:solidFill>
              </a:defRPr>
            </a:pPr>
            <a:r>
              <a:t>BÁO CÁO GIỮA KỲ — CƠ SỞ DỮ LIỆU NÂNG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Phân tích nhật ký IoT tại thiết bị biên: Đối chuẩn DuckDB vs SQLite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00000"/>
                </a:solidFill>
              </a:defRPr>
            </a:pPr>
            <a:r>
              <a:t>1. Thực trạng &amp; Nghịch lý Cloud tập trung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Hàng triệu bản ghi IoT thô đẩy liên tục lên Cloud gây tắc nghẽn băng thông và tốn kém chi phí egress dữ liệu.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Độ trễ xử lý tập trung cao: Không đáp ứng yêu cầu cảnh báo tức thì khi xảy ra sự cố quá tải hoặc lỗi dịch vụ.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Mất khả năng tự trị: Đứt kết nối Internet khiến trạm biên hoàn toàn 'mù' thông tin giám sát cục bộ.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2. Giải pháp: In-Situ Edge Analytics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Chuyển dịch tính toán phân tích (OLAP) xuống thực thi tại chỗ (In-Situ) trên thiết bị biên.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Ứng dụng DuckDB: CSDL nhúng dạng cột (Columnar Engine) có cơ chế Vectorized Execution siêu nhẹ.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Sliding Window Analytics: Phân tích cửa sổ trượt 60 giây và cảnh báo ngưỡng tức thì tại chỗ.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Hierarchical Parquet Rollup: Định kỳ nén log tóm tắt thành file .parquet, tiết kiệm trên 90% băng thông truyền tải.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464"/>
                </a:solidFill>
              </a:defRPr>
            </a:pPr>
            <a:r>
              <a:t>BÁO CÁO GIỮA KỲ — CƠ SỞ DỮ LIỆU NÂNG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Thiết kế kiến trúc hệ thống 2 tầng &amp; Pipeline tại biên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Kiến trúc phân tầng (Edge — Cloud)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Tầng Biên (VM 1: Client Edge Gateways): Cụm 5 trạm biên Docker độc lập, giới hạn 512MB RAM/node, tiếp nhận log, lưu trữ và phục vụ Web Dashboard.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Tầng Đám mây (VM 2: Cloud Monitoring): Prometheus Server cào số liệu phân tán; Grafana quản trị tập trung toàn bộ Edge Fleet; Cloud Receiver lưu trữ tệp Parquet.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4 Phân hệ xử lý dữ liệu tại biên (In-Situ Pipeline)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• IngestBuffer: Hàng đợi bất đồng bộ (asyncio.Queue) gom micro-batch (500 logs / 500ms) chuyển sang Apache Arrow Table zero-copy nạp vào DuckDB.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• StreamAnalyzer: Quét cửa sổ trượt 60 giây mỗi chu kỳ 1s, tính toán tổng log, tỉ lệ lỗi và phân vị P95/P99 qua QUANTILE_CONT.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• AlertManager: Đánh giá biểu thức điều kiện động từ rules.json, phát cảnh báo tức thời qua WebSocket tới Web UI.</a:t>
            </a:r>
          </a:p>
          <a:p>
            <a:pPr>
              <a:spcBef>
                <a:spcPts val="800"/>
              </a:spcBef>
              <a:defRPr sz="1300">
                <a:solidFill>
                  <a:srgbClr val="282828"/>
                </a:solidFill>
              </a:defRPr>
            </a:pPr>
            <a:r>
              <a:t>• CloudSyncer: Nén tóm tắt theo cửa sổ 15 phút thành file Parquet (ZSTD), đẩy qua HTTP POST lên Cloud Lake.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464"/>
                </a:solidFill>
              </a:defRPr>
            </a:pPr>
            <a:r>
              <a:t>BÁO CÁO GIỮA KỲ — CƠ SỞ DỮ LIỆU NÂNG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Kết quả đo kiểm đối chuẩn thực nghiệm: DuckDB vs SQLite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6984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645920"/>
                <a:gridCol w="1645920"/>
                <a:gridCol w="1645920"/>
                <a:gridCol w="2286000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Nghiệp vụ / Chỉ số đo lường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SQLite (1T)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DuckDB (1T)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DuckDB (4T)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Hiệu năng vượt trội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Tốc độ nạp (Ingestion throughput)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31.000 rows/s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82.000 rows/s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3366"/>
                          </a:solidFill>
                        </a:defRPr>
                      </a:pPr>
                      <a:r>
                        <a:t>105.000 rows/s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A00000"/>
                          </a:solidFill>
                        </a:defRPr>
                      </a:pPr>
                      <a:r>
                        <a:t>DuckDB nhanh 3.39x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Dung lượng CSDL trên đĩa (100k rows)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16.50 MB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4.25 MB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3366"/>
                          </a:solidFill>
                        </a:defRPr>
                      </a:pPr>
                      <a:r>
                        <a:t>4.25 MB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A00000"/>
                          </a:solidFill>
                        </a:defRPr>
                      </a:pPr>
                      <a:r>
                        <a:t>DuckDB giảm 74.2%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Q1: Point Filter (Lọc log lỗi)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12.4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1.8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3366"/>
                          </a:solidFill>
                        </a:defRPr>
                      </a:pPr>
                      <a:r>
                        <a:t>0.9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A00000"/>
                          </a:solidFill>
                        </a:defRPr>
                      </a:pPr>
                      <a:r>
                        <a:t>DuckDB nhanh 13.8x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Q2: Group By đa chiều (Thiết bị, Level)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48.6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3.5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3366"/>
                          </a:solidFill>
                        </a:defRPr>
                      </a:pPr>
                      <a:r>
                        <a:t>1.2 ms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A00000"/>
                          </a:solidFill>
                        </a:defRPr>
                      </a:pPr>
                      <a:r>
                        <a:t>DuckDB nhanh 40.5x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Q4: Tính toán phân vị độ trễ P99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115.8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</a:defRPr>
                      </a:pPr>
                      <a:r>
                        <a:t>4.2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3366"/>
                          </a:solidFill>
                        </a:defRPr>
                      </a:pPr>
                      <a:r>
                        <a:t>1.5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A00000"/>
                          </a:solidFill>
                        </a:defRPr>
                      </a:pPr>
                      <a:r>
                        <a:t>DuckDB nhanh 77.2x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03366"/>
                </a:solidFill>
              </a:defRPr>
            </a:pPr>
            <a:r>
              <a:t>Nhận định khoa học:</a:t>
            </a:r>
          </a:p>
          <a:p>
            <a:pPr>
              <a:defRPr sz="1250">
                <a:solidFill>
                  <a:srgbClr val="282828"/>
                </a:solidFill>
              </a:defRPr>
            </a:pPr>
            <a:r>
              <a:t>• Xử lý phân vị (P99): SQLite phải nạp và sắp xếp toàn bộ hàng tốn 115.8ms; DuckDB tận dụng toán tử phân vị vector hóa xấp xỉ chỉ mất 1.5ms (nhanh gấp 77 lần).</a:t>
            </a:r>
          </a:p>
          <a:p>
            <a:pPr>
              <a:defRPr sz="1250">
                <a:solidFill>
                  <a:srgbClr val="282828"/>
                </a:solidFill>
              </a:defRPr>
            </a:pPr>
            <a:r>
              <a:t>• Tiết kiệm băng thông: Cơ chế Parquet Rollup kết hợp nén ZSTD giúp tiết kiệm trên 91.5% băng thông so với truyền tải JSON thô.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646464"/>
                </a:solidFill>
              </a:defRPr>
            </a:pPr>
            <a:r>
              <a:t>BÁO CÁO GIỮA KỲ — CƠ SỞ DỮ LIỆU NÂNG 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Kết luận giữa kỳ &amp; Kế hoạch giai đoạn cuối kỳ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Kết luận rút ra từ đề tài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Khẳng định tính ưu việt của CSDL dạng cột tại biên: DuckDB giải quyết trọn vẹn điểm nghẽn phân tích của SQLite mà vẫn duy trì tính chất nhúng, không cần cấu hình server.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Cơ chế nạp Arrow zero-copy khắc phục hoàn toàn nhược điểm ghi đơn dòng truyền thống của các hệ CSDL cột.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Mô hình In-Situ kết hợp Parquet Rollup là giải pháp thực tế giải quyết bài toán nghẽn mạng và chi phí Cloud trong IoT.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Kế hoạch hoàn thiện giai đoạn cuối kỳ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Thực nghiệm phân mảnh mạng (Network Partitioning Test): Kiểm tra khả năng tự lưu trữ, tự cảnh báo khi ngắt kết nối mạng và cơ chế đồng bộ bù lên Cloud khi có mạng trở lại.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Đo lường năng lượng &amp; tải CPU liên tục: Đo mức tiêu thụ RAM/CPU ổn định của DuckDB khi nạp liên tục 24/7 trên phần cứng biên thực tế.</a:t>
            </a:r>
          </a:p>
          <a:p>
            <a:pPr>
              <a:spcBef>
                <a:spcPts val="1000"/>
              </a:spcBef>
              <a:defRPr sz="1350">
                <a:solidFill>
                  <a:srgbClr val="282828"/>
                </a:solidFill>
              </a:defRPr>
            </a:pPr>
            <a:r>
              <a:t>• Đóng gói hoàn thiện: Xuất bản báo cáo tổng kết hoàn chỉnh và tài liệu hướng dẫn mã nguồn mở đồ 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