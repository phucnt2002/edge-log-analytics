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E6E6E"/>
                </a:solidFill>
              </a:defRPr>
            </a:pPr>
            <a:r>
              <a:t>ĐẠI HỌC QUỐC GIA THÀNH PHỐ HỒ CHÍ MINH</a:t>
            </a:r>
          </a:p>
          <a:p>
            <a:pPr>
              <a:defRPr sz="1300" b="1">
                <a:solidFill>
                  <a:srgbClr val="0054A6"/>
                </a:solidFill>
              </a:defRPr>
            </a:pPr>
            <a:r>
              <a:t>TRƯỜNG ĐẠI HỌC CÔNG NGHỆ THÔNG TIN</a:t>
            </a:r>
          </a:p>
          <a:p>
            <a:pPr>
              <a:spcBef>
                <a:spcPts val="200"/>
              </a:spcBef>
              <a:defRPr sz="1000">
                <a:solidFill>
                  <a:srgbClr val="6E6E6E"/>
                </a:solidFill>
              </a:defRPr>
            </a:pPr>
            <a:r>
              <a:t>KHOA HỆ THỐNG THÔNG TIN / VIỆN ĐÀO TẠO SAU ĐẠI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15600" cy="18288"/>
          </a:xfrm>
          <a:prstGeom prst="rect">
            <a:avLst/>
          </a:prstGeom>
          <a:solidFill>
            <a:srgbClr val="D2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754880" cy="34747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005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54A6"/>
                </a:solidFill>
              </a:defRPr>
            </a:pPr>
            <a:r>
              <a:t>BÁO CÁO TIẾN ĐỘ ĐỀ TÀI GIỮA KỲ — CSDL NÂNG 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2D62"/>
                </a:solidFill>
              </a:defRPr>
            </a:pPr>
            <a:r>
              <a:t>NGHIÊN CỨU VÀ HIỆN THỰC HÓA HỆ THỐNG PHÂN TÍCH NHẬT KÝ THỜI GIAN THỰC TẠI THIẾT BỊ BIÊN</a:t>
            </a:r>
          </a:p>
          <a:p>
            <a:pPr>
              <a:spcBef>
                <a:spcPts val="600"/>
              </a:spcBef>
              <a:defRPr sz="1400" i="1">
                <a:solidFill>
                  <a:srgbClr val="0054A6"/>
                </a:solidFill>
              </a:defRPr>
            </a:pPr>
            <a:r>
              <a:t>Đối chuẩn hiệu năng chuyên sâu giữa DuckDB (Vectorized Columnar) và SQLite (Row-oriented B-Tree)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2148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4389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4A6"/>
                </a:solidFill>
              </a:defRPr>
            </a:pPr>
            <a:r>
              <a:t>GIẢNG VIÊN HƯỚNG DẪN:</a:t>
            </a:r>
          </a:p>
          <a:p>
            <a:pPr>
              <a:spcBef>
                <a:spcPts val="400"/>
              </a:spcBef>
              <a:defRPr sz="1200" b="1">
                <a:solidFill>
                  <a:srgbClr val="222222"/>
                </a:solidFill>
              </a:defRPr>
            </a:pPr>
            <a:r>
              <a:t>TS. / PGS.TS. [Điền tên Giảng viên]</a:t>
            </a:r>
          </a:p>
          <a:p>
            <a:pPr>
              <a:defRPr sz="1050">
                <a:solidFill>
                  <a:srgbClr val="6E6E6E"/>
                </a:solidFill>
              </a:defRPr>
            </a:pPr>
            <a:r>
              <a:t>Bộ môn Hệ thống Thông tin / Khoa học 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160520"/>
            <a:ext cx="53035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4A6"/>
                </a:solidFill>
              </a:defRPr>
            </a:pPr>
            <a:r>
              <a:t>HỌC VIÊN THỰC HIỆN:</a:t>
            </a:r>
          </a:p>
          <a:p>
            <a:pPr>
              <a:spcBef>
                <a:spcPts val="300"/>
              </a:spcBef>
              <a:defRPr sz="1150">
                <a:solidFill>
                  <a:srgbClr val="222222"/>
                </a:solidFill>
              </a:defRPr>
            </a:pPr>
            <a:r>
              <a:t>• 1. [Họ và tên học viên 1]  —  MSHV: [Điền MSHV 1]</a:t>
            </a:r>
          </a:p>
          <a:p>
            <a:pPr>
              <a:spcBef>
                <a:spcPts val="300"/>
              </a:spcBef>
              <a:defRPr sz="1150">
                <a:solidFill>
                  <a:srgbClr val="222222"/>
                </a:solidFill>
              </a:defRPr>
            </a:pPr>
            <a:r>
              <a:t>• 2. [Họ và tên học viên 2]  —  MSHV: [Điền MSHV 2] (nếu có)</a:t>
            </a:r>
          </a:p>
          <a:p>
            <a:pPr>
              <a:spcBef>
                <a:spcPts val="300"/>
              </a:spcBef>
              <a:defRPr sz="1050">
                <a:solidFill>
                  <a:srgbClr val="6E6E6E"/>
                </a:solidFill>
              </a:defRPr>
            </a:pPr>
            <a:r>
              <a:t>Lớp: Cao học Khóa [K...] — Học kỳ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E6E6E"/>
                </a:solidFill>
              </a:defRPr>
            </a:pPr>
            <a:r>
              <a:t>TP. HỒ CHÍ MINH — THÁNG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54A6"/>
                </a:solidFill>
              </a:defRPr>
            </a:pPr>
            <a:r>
              <a:t>TRƯỜNG ĐẠI HỌC CÔNG NGHỆ THÔNG TIN — ĐHQG-HCM | HỌC PHẦN: CƠ SỞ DỮ LIỆU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2D62"/>
                </a:solidFill>
              </a:defRPr>
            </a:pPr>
            <a:r>
              <a:t>1. Thực trạng kiến trúc Cloud &amp; Giải pháp In-Situ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Đề tài: Edge Log Analytics Engine (DuckDB vs SQLite In-Situ) | Báo cáo giữa kỳ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Trang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02020"/>
                </a:solidFill>
              </a:defRPr>
            </a:pPr>
            <a:r>
              <a:t>Thách thức của mô hình Cloud tập trung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Nghẽn băng thông mạng: Hàng triệu bản ghi IoT thô dạng JSON đẩy trực tiếp gây quá tải đường truyền và tốn chi phí egress lớn.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Độ trễ phát hiện cao: Dữ liệu phải qua nhiều chặng trung gian lên Cloud mới xử lý, không đáp ứng yêu cầu cảnh báo tức thì.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Nguy cơ gián đoạn giám sát: Khi mạng chập chờn hoặc đứt kết nối (Network Partition), trạm biên bị mất khả năng tự trị hoàn toàn.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4A6"/>
                </a:solidFill>
              </a:defRPr>
            </a:pPr>
            <a:r>
              <a:t>Giải pháp: Phân tích tại chỗ (In-Situ Edge)</a:t>
            </a:r>
          </a:p>
          <a:p>
            <a:pPr>
              <a:spcBef>
                <a:spcPts val="1000"/>
              </a:spcBef>
              <a:defRPr sz="1200">
                <a:solidFill>
                  <a:srgbClr val="222222"/>
                </a:solidFill>
              </a:defRPr>
            </a:pPr>
            <a:r>
              <a:t>• Chuyển dịch tính toán phân tích (OLAP) xuống biên: Tận dụng phần cứng đa nhân hiện đại của Edge Gateway để phân tích dữ liệu tại nguồn.</a:t>
            </a:r>
          </a:p>
          <a:p>
            <a:pPr>
              <a:spcBef>
                <a:spcPts val="1000"/>
              </a:spcBef>
              <a:defRPr sz="1200">
                <a:solidFill>
                  <a:srgbClr val="222222"/>
                </a:solidFill>
              </a:defRPr>
            </a:pPr>
            <a:r>
              <a:t>• Ứng dụng CSDL nhúng dạng cột (DuckDB): Mô hình Vectorized Execution tối ưu cho tác vụ quét và tổng hợp log tốc độ cao trong bộ nhớ RAM nhỏ.</a:t>
            </a:r>
          </a:p>
          <a:p>
            <a:pPr>
              <a:spcBef>
                <a:spcPts val="1000"/>
              </a:spcBef>
              <a:defRPr sz="1200">
                <a:solidFill>
                  <a:srgbClr val="222222"/>
                </a:solidFill>
              </a:defRPr>
            </a:pPr>
            <a:r>
              <a:t>• Sliding Window &amp; Local Alert: Đánh giá cửa sổ trượt 60 giây và phát cảnh báo tại chỗ ngay cả khi mất kết nối Internet.</a:t>
            </a:r>
          </a:p>
          <a:p>
            <a:pPr>
              <a:spcBef>
                <a:spcPts val="1000"/>
              </a:spcBef>
              <a:defRPr sz="1200">
                <a:solidFill>
                  <a:srgbClr val="222222"/>
                </a:solidFill>
              </a:defRPr>
            </a:pPr>
            <a:r>
              <a:t>• Hierarchical Parquet Rollup: Định kỳ nén log tóm tắt thành file .parquet (ZSTD), tiết kiệm &gt;90% băng thông truyền tải lên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54A6"/>
                </a:solidFill>
              </a:defRPr>
            </a:pPr>
            <a:r>
              <a:t>TRƯỜNG ĐẠI HỌC CÔNG NGHỆ THÔNG TIN — ĐHQG-HCM | HỌC PHẦN: CƠ SỞ DỮ LIỆU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2D62"/>
                </a:solidFill>
              </a:defRPr>
            </a:pPr>
            <a:r>
              <a:t>2. Thiết kế kiến trúc 2 tầng &amp; Pipeline xử lý tại biên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Đề tài: Edge Log Analytics Engine (DuckDB vs SQLite In-Situ) | Báo cáo giữa kỳ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Trang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D62"/>
                </a:solidFill>
              </a:defRPr>
            </a:pPr>
            <a:r>
              <a:t>Mô hình phân tầng thực tế: Cụm trạm biên (VM 1) ──► Máy chủ trung tâm (VM 2)</a:t>
            </a:r>
          </a:p>
          <a:p>
            <a:pPr>
              <a:spcBef>
                <a:spcPts val="300"/>
              </a:spcBef>
              <a:defRPr sz="1100">
                <a:solidFill>
                  <a:srgbClr val="222222"/>
                </a:solidFill>
              </a:defRPr>
            </a:pPr>
            <a:r>
              <a:t>• VM 1 (Client Edge Fleet): Mô phỏng 5 trạm biên qua Docker Compose (giới hạn cứng 512MB RAM/node), tích hợp Web Dashboard và Prometheus /metrics.</a:t>
            </a:r>
          </a:p>
          <a:p>
            <a:pPr>
              <a:spcBef>
                <a:spcPts val="200"/>
              </a:spcBef>
              <a:defRPr sz="1100">
                <a:solidFill>
                  <a:srgbClr val="222222"/>
                </a:solidFill>
              </a:defRPr>
            </a:pPr>
            <a:r>
              <a:t>• VM 2 (Cloud Central): Prometheus Scraper cào số liệu phân tán; Grafana quản trị tập trung toàn bộ đội tàu biên; Cloud Receiver lưu trữ tệp Parquet.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2514600" cy="3108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4A6"/>
                </a:solidFill>
              </a:defRPr>
            </a:pPr>
            <a:r>
              <a:t>1. IngestBuffer</a:t>
            </a:r>
          </a:p>
          <a:p>
            <a:pPr>
              <a:spcBef>
                <a:spcPts val="800"/>
              </a:spcBef>
              <a:defRPr sz="1050">
                <a:solidFill>
                  <a:srgbClr val="222222"/>
                </a:solidFill>
              </a:defRPr>
            </a:pPr>
            <a:r>
              <a:t>Async Ring Buffer (Queue)</a:t>
            </a:r>
            <a:br/>
            <a:r>
              <a:t>Gom micro-batch (500 logs)</a:t>
            </a:r>
            <a:br/>
            <a:r>
              <a:t>Chuyển sang Apache Arrow Table</a:t>
            </a:r>
            <a:br/>
            <a:r>
              <a:t>Nạp zero-copy thẳng vào DuckDB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017520"/>
            <a:ext cx="2514600" cy="3108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15468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4A6"/>
                </a:solidFill>
              </a:defRPr>
            </a:pPr>
            <a:r>
              <a:t>2. StreamAnalyzer</a:t>
            </a:r>
          </a:p>
          <a:p>
            <a:pPr>
              <a:spcBef>
                <a:spcPts val="800"/>
              </a:spcBef>
              <a:defRPr sz="1050">
                <a:solidFill>
                  <a:srgbClr val="222222"/>
                </a:solidFill>
              </a:defRPr>
            </a:pPr>
            <a:r>
              <a:t>Chu kỳ 1s quét cửa sổ trượt 60s</a:t>
            </a:r>
            <a:br/>
            <a:r>
              <a:t>Tính log_count, error_rate</a:t>
            </a:r>
            <a:br/>
            <a:r>
              <a:t>Tính phân vị P95/P99 latency qua</a:t>
            </a:r>
            <a:br/>
            <a:r>
              <a:t>toán tử QUANTILE_CONT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2514600" cy="3108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15468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4A6"/>
                </a:solidFill>
              </a:defRPr>
            </a:pPr>
            <a:r>
              <a:t>3. AlertManager</a:t>
            </a:r>
          </a:p>
          <a:p>
            <a:pPr>
              <a:spcBef>
                <a:spcPts val="800"/>
              </a:spcBef>
              <a:defRPr sz="1050">
                <a:solidFill>
                  <a:srgbClr val="222222"/>
                </a:solidFill>
              </a:defRPr>
            </a:pPr>
            <a:r>
              <a:t>Đánh giá quy tắc động (rules.json)</a:t>
            </a:r>
            <a:br/>
            <a:r>
              <a:t>Kiểm tra ngưỡng CPU, P99, Error</a:t>
            </a:r>
            <a:br/>
            <a:r>
              <a:t>Phát cảnh báo tức thì qua WebSocket</a:t>
            </a:r>
            <a:br/>
            <a:r>
              <a:t>Hoạt động hoàn toàn độc lập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017520"/>
            <a:ext cx="2514600" cy="3108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315468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4A6"/>
                </a:solidFill>
              </a:defRPr>
            </a:pPr>
            <a:r>
              <a:t>4. CloudSyncer</a:t>
            </a:r>
          </a:p>
          <a:p>
            <a:pPr>
              <a:spcBef>
                <a:spcPts val="800"/>
              </a:spcBef>
              <a:defRPr sz="1050">
                <a:solidFill>
                  <a:srgbClr val="222222"/>
                </a:solidFill>
              </a:defRPr>
            </a:pPr>
            <a:r>
              <a:t>Gom rollup phân vùng 15 phút</a:t>
            </a:r>
            <a:br/>
            <a:r>
              <a:t>Xuất định dạng Parquet (ZSTD)</a:t>
            </a:r>
            <a:br/>
            <a:r>
              <a:t>Đẩy HTTP POST lên Cloud Lake</a:t>
            </a:r>
            <a:br/>
            <a:r>
              <a:t>Tiết kiệm &gt;90% băng thông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54A6"/>
                </a:solidFill>
              </a:defRPr>
            </a:pPr>
            <a:r>
              <a:t>TRƯỜNG ĐẠI HỌC CÔNG NGHỆ THÔNG TIN — ĐHQG-HCM | HỌC PHẦN: CƠ SỞ DỮ LIỆU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2D62"/>
                </a:solidFill>
              </a:defRPr>
            </a:pPr>
            <a:r>
              <a:t>3. Kết quả đo kiểm đối chuẩn thực nghiệm: DuckDB vs SQLite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Đề tài: Edge Log Analytics Engine (DuckDB vs SQLite In-Situ) | Báo cáo giữa kỳ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Trang 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107286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  <a:gridCol w="1645920"/>
                <a:gridCol w="1645920"/>
                <a:gridCol w="2316175"/>
              </a:tblGrid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Nghiệp vụ / Chỉ số đo lường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SQLite (1T)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DuckDB (1T)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DuckDB (4T)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Hiệu năng vượt trội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Tốc độ nạp thuần (Ingestion throughput)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31.000 rows/s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82.000 rows/s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54A6"/>
                          </a:solidFill>
                        </a:defRPr>
                      </a:pPr>
                      <a:r>
                        <a:t>105.000 rows/s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02020"/>
                          </a:solidFill>
                        </a:defRPr>
                      </a:pPr>
                      <a:r>
                        <a:t>DuckDB nhanh 3.39x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Dung lượng CSDL trên đĩa (100k rows)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16.50 MB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4.25 MB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54A6"/>
                          </a:solidFill>
                        </a:defRPr>
                      </a:pPr>
                      <a:r>
                        <a:t>4.25 MB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02020"/>
                          </a:solidFill>
                        </a:defRPr>
                      </a:pPr>
                      <a:r>
                        <a:t>DuckDB giảm 74.2%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Q1: Point Filter (Lọc log lỗi)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12.4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54A6"/>
                          </a:solidFill>
                        </a:defRPr>
                      </a:pPr>
                      <a:r>
                        <a:t>0.9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02020"/>
                          </a:solidFill>
                        </a:defRPr>
                      </a:pPr>
                      <a:r>
                        <a:t>DuckDB nhanh 13.8x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Q2: Group By đa chiều (Thiết bị, Level)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48.6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3.5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54A6"/>
                          </a:solidFill>
                        </a:defRPr>
                      </a:pPr>
                      <a:r>
                        <a:t>1.2 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02020"/>
                          </a:solidFill>
                        </a:defRPr>
                      </a:pPr>
                      <a:r>
                        <a:t>DuckDB nhanh 40.5x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Q4: Tính toán phân vị độ trễ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115.8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2222"/>
                          </a:solidFill>
                        </a:defRPr>
                      </a:pPr>
                      <a:r>
                        <a:t>4.2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54A6"/>
                          </a:solidFill>
                        </a:defRPr>
                      </a:pPr>
                      <a:r>
                        <a:t>1.5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02020"/>
                          </a:solidFill>
                        </a:defRPr>
                      </a:pPr>
                      <a:r>
                        <a:t>DuckDB nhanh 77.2x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4A6"/>
                </a:solidFill>
              </a:defRPr>
            </a:pPr>
            <a:r>
              <a:t>Phân tích và nhận định khoa học:</a:t>
            </a:r>
          </a:p>
          <a:p>
            <a:pPr>
              <a:spcBef>
                <a:spcPts val="300"/>
              </a:spcBef>
              <a:defRPr sz="1100">
                <a:solidFill>
                  <a:srgbClr val="222222"/>
                </a:solidFill>
              </a:defRPr>
            </a:pPr>
            <a:r>
              <a:t>• Ưu thế phân vị (P99): SQLite phải quét bảng B-Tree và sắp xếp toàn bộ dữ liệu (tốn 115.8ms); DuckDB sử dụng giải thuật xấp xỉ vector hóa chỉ tốn 1.5ms (nhanh gấp 77.2 lần).</a:t>
            </a:r>
          </a:p>
          <a:p>
            <a:pPr>
              <a:spcBef>
                <a:spcPts val="300"/>
              </a:spcBef>
              <a:defRPr sz="1100">
                <a:solidFill>
                  <a:srgbClr val="222222"/>
                </a:solidFill>
              </a:defRPr>
            </a:pPr>
            <a:r>
              <a:t>• Tiết kiệm băng thông: Cơ chế nén Parquet Rollup kết hợp ZSTD nén file còn dưới 10% kích thước ban đầu, tiết kiệm &gt;91.5% băng thông so với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54A6"/>
                </a:solidFill>
              </a:defRPr>
            </a:pPr>
            <a:r>
              <a:t>TRƯỜNG ĐẠI HỌC CÔNG NGHỆ THÔNG TIN — ĐHQG-HCM | HỌC PHẦN: CƠ SỞ DỮ LIỆU NÂNG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2D62"/>
                </a:solidFill>
              </a:defRPr>
            </a:pPr>
            <a:r>
              <a:t>4. Kết luận giữa kỳ &amp; Kế hoạch giai đoạn tiếp theo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D7E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6E6E"/>
                </a:solidFill>
              </a:defRPr>
            </a:pPr>
            <a:r>
              <a:t>Đề tài: Edge Log Analytics Engine (DuckDB vs SQLite In-Situ) | Báo cáo giữa kỳ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Trang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66360" cy="46634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800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4A6"/>
                </a:solidFill>
              </a:defRPr>
            </a:pPr>
            <a:r>
              <a:t>Kết luận rút ra từ nghiên cứu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Khẳng định tính ưu việt của CSDL dạng cột tại biên: DuckDB giải quyết triệt để điểm nghẽn phân tích của SQLite mà vẫn giữ nguyên tính chất nhúng nhẹ nhàng, không cần server.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Cơ chế nạp Arrow zero-copy giải quyết hoàn toàn hạn chế nạp đơn dòng chậm truyền thống của CSDL cột.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Mô hình In-Situ kết hợp Parquet Rollup chứng minh tính khả thi cao trong việc cắt giảm chi phí hạ tầng Cloud và tăng tính ổn định của hệ sinh thái IoT.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422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764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D62"/>
                </a:solidFill>
              </a:defRPr>
            </a:pPr>
            <a:r>
              <a:t>Kế hoạch hoàn thiện giai đoạn cuối kỳ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Thử nghiệm phân mảnh mạng (Network Partitioning Test): Kiểm tra cơ chế tự lưu trữ khi đứt cáp và bù đồng bộ dữ liệu khi khôi phục mạng.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Đo lường năng lượng &amp; tải CPU liên tục 24/7: Đánh giá độ ổn định và tiêu thụ tài nguyên của DuckDB trên thiết bị nhúng thực tế (Raspberry Pi/ARM64).</a:t>
            </a:r>
          </a:p>
          <a:p>
            <a:pPr>
              <a:spcBef>
                <a:spcPts val="1200"/>
              </a:spcBef>
              <a:defRPr sz="1200">
                <a:solidFill>
                  <a:srgbClr val="222222"/>
                </a:solidFill>
              </a:defRPr>
            </a:pPr>
            <a:r>
              <a:t>• Hoàn thiện báo cáo &amp; đóng gói mã nguồn: Biên soạn luận văn tổng kết và đóng gói tài liệu kỹ thuật.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2D62"/>
                </a:solidFill>
              </a:defRPr>
            </a:pPr>
            <a:r>
              <a:t>CẢM ƠN THẦY/CÔ VÀ CÁC BẠN ĐÃ LẮNG NGHE!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0054A6"/>
                </a:solidFill>
              </a:defRPr>
            </a:pPr>
            <a:r>
              <a:t>Q &amp; A  —  HỎI ĐÁP &amp; THẢO LUẬN GÓP Ý</a:t>
            </a:r>
          </a:p>
          <a:p>
            <a:pPr algn="ctr">
              <a:spcBef>
                <a:spcPts val="2000"/>
              </a:spcBef>
              <a:defRPr sz="1200">
                <a:solidFill>
                  <a:srgbClr val="6E6E6E"/>
                </a:solidFill>
              </a:defRPr>
            </a:pPr>
            <a:r>
              <a:t>Trường Đại học Công nghệ Thông tin — ĐHQG-HCM</a:t>
            </a:r>
            <a:br/>
            <a:r>
              <a:t>Học phần: Cơ sở dữ liệu nâng cao (CSDLNC)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